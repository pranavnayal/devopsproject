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FLOWBOARD</a:t>
            </a:r>
          </a:p>
          <a:p>
            <a:pPr>
              <a:spcAft>
                <a:spcPts val="2800"/>
              </a:spcAft>
              <a:defRPr sz="1800">
                <a:solidFill>
                  <a:srgbClr val="34D399"/>
                </a:solidFill>
              </a:defRPr>
            </a:pPr>
            <a:r>
              <a:t>A cloud-native SaaS task board, shipped through a complete DevOps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1737360" cy="411480"/>
          </a:xfrm>
          <a:prstGeom prst="roundRect">
            <a:avLst/>
          </a:prstGeom>
          <a:solidFill>
            <a:srgbClr val="1038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3108960"/>
            <a:ext cx="1737360" cy="411480"/>
          </a:xfrm>
          <a:prstGeom prst="roundRect">
            <a:avLst/>
          </a:prstGeom>
          <a:solidFill>
            <a:srgbClr val="1038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3108960"/>
            <a:ext cx="1737360" cy="411480"/>
          </a:xfrm>
          <a:prstGeom prst="roundRect">
            <a:avLst/>
          </a:prstGeom>
          <a:solidFill>
            <a:srgbClr val="1038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Pranav Nayal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DevOps · Capstone Project · Session 21 · Instructor: Nensi Ravaliya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A7F3D0"/>
                </a:solidFill>
              </a:defRPr>
            </a:pPr>
            <a:r>
              <a:t>FlowBoard · DevOps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A7F3D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One board. Live KPI stats. Zero state drift.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Engineered for real-time visibility and bulletproof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2062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38404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WORKFLOW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Core Principles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Organizes tasks across TODO, IN PROGRESS, and DONE columns.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Telemetry at /api/tasks/stats computes live velocity metrics.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Enforces atomic state transitions with Pydantic and SQLAlchemy.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Containers run unprivileged under non-root users (UID 10001 &amp; 101).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45920"/>
            <a:ext cx="603504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1280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12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1280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4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IN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1280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5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TODO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1280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3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788920"/>
            <a:ext cx="17830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TODO (5)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788920"/>
            <a:ext cx="17830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IN PROGRESS (4)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788920"/>
            <a:ext cx="17830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DONE (3)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246120"/>
            <a:ext cx="1783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Setup EKS Ingress</a:t>
            </a:r>
            <a:br/>
            <a:r>
              <a:t>High Priority · DevOps</a:t>
            </a:r>
            <a:br/>
            <a:r>
              <a:t>Assignee: Pranav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246120"/>
            <a:ext cx="178308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Trivy Scan Pipeline</a:t>
            </a:r>
            <a:br/>
            <a:r>
              <a:t>Medium · Security</a:t>
            </a:r>
            <a:br/>
            <a:r>
              <a:t>Assignee: Pranav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246120"/>
            <a:ext cx="1783080" cy="10058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34155"/>
                </a:solidFill>
              </a:defRPr>
            </a:pPr>
            <a:r>
              <a:t>Database Migrations</a:t>
            </a:r>
            <a:br/>
            <a:r>
              <a:t>Alembic 0001 · Head</a:t>
            </a:r>
            <a:br/>
            <a:r>
              <a:t>Status: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48640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The live Kanban board, served from Docker Compose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The project in numbers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Verified engineering outcomes across the delivery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10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REST &amp; ops endpoints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CRUD, stats, health, ready,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10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tests pass at 100%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Hermetic SQLite fixture in 0.08s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3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CI/CD jobs on push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 &amp; build, container scan, Helm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56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AWS resources planned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Terraform VPC + EKS in ap-southeast-2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0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HIGH / CRITICAL CVEs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Aqua Trivy security gate enforced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0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secrets committed to Git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Environment-based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How it all fits together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From git commit to automated testing, container registry, and AWS Kubernetes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377440" cy="68580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F2C"/>
                </a:solidFill>
              </a:defRPr>
            </a:pPr>
            <a:r>
              <a:t>Developer pushes to</a:t>
            </a:r>
            <a:br/>
            <a:r>
              <a:t>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377440" cy="68580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F2C"/>
                </a:solidFill>
              </a:defRPr>
            </a:pPr>
            <a:r>
              <a:t>GitHub Actions:</a:t>
            </a:r>
            <a:br/>
            <a:r>
              <a:t>test, scan,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377440" cy="68580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F2C"/>
                </a:solidFill>
              </a:defRPr>
            </a:pPr>
            <a:r>
              <a:t>GHCR: images</a:t>
            </a:r>
            <a:br/>
            <a:r>
              <a:t>tagged by SHA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463040"/>
            <a:ext cx="2377440" cy="68580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F2C"/>
                </a:solidFill>
              </a:defRPr>
            </a:pPr>
            <a:r>
              <a:t>Helm deploy</a:t>
            </a:r>
            <a:br/>
            <a:r>
              <a:t>to AWS EKS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1691640"/>
            <a:ext cx="1828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897879" y="1691640"/>
            <a:ext cx="1828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549640" y="1691640"/>
            <a:ext cx="1828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9875520" y="2194560"/>
            <a:ext cx="228600" cy="2286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68880"/>
            <a:ext cx="1051560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560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AWS · ap-southeast-2 (Sydney) · Built by Terraform · VPC + Managed EKS 1.31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749039"/>
            <a:ext cx="1463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Browser / Client</a:t>
            </a:r>
            <a:br/>
            <a:r>
              <a:t>(Public User)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97480" y="4023360"/>
            <a:ext cx="22860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71800" y="3566160"/>
            <a:ext cx="1920240" cy="118872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NGINX Ingress</a:t>
            </a:r>
            <a:br/>
            <a:r>
              <a:t>Single Public LB</a:t>
            </a:r>
            <a:br/>
            <a:r>
              <a:t>Path Routing (/ &amp; /api)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37760" y="3246120"/>
            <a:ext cx="320040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292608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Frontend: React 18</a:t>
            </a:r>
            <a:br/>
            <a:r>
              <a:t>NGINX (UID 101) ×2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37760" y="4389120"/>
            <a:ext cx="320040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0" y="406908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Backend: FastAPI</a:t>
            </a:r>
            <a:br/>
            <a:r>
              <a:t>Python 3.12 (UID 10001)</a:t>
            </a:r>
            <a:br/>
            <a:r>
              <a:t>HPA: 2–6 Replicas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43800" y="4434840"/>
            <a:ext cx="320040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09560" y="40690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2F2C"/>
                </a:solidFill>
              </a:defRPr>
            </a:pPr>
            <a:r>
              <a:t>PostgreSQL 16</a:t>
            </a:r>
            <a:br/>
            <a:r>
              <a:t>StatefulSet + PVC</a:t>
            </a:r>
            <a:br/>
            <a:r>
              <a:t>gp3 volume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2926080"/>
            <a:ext cx="1371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2F2C"/>
                </a:solidFill>
              </a:defRPr>
            </a:pPr>
            <a:r>
              <a:t>Prometheus</a:t>
            </a:r>
            <a:br/>
            <a:r>
              <a:t>scrapes /metrics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926080"/>
            <a:ext cx="1371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2F2C"/>
                </a:solidFill>
              </a:defRPr>
            </a:pPr>
            <a:r>
              <a:t>Grafana</a:t>
            </a:r>
            <a:br/>
            <a:r>
              <a:t>Visual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34D399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The application</a:t>
            </a:r>
          </a:p>
          <a:p>
            <a:pPr>
              <a:defRPr sz="1600">
                <a:solidFill>
                  <a:srgbClr val="A7F3D0"/>
                </a:solidFill>
              </a:defRPr>
            </a:pPr>
            <a:r>
              <a:t>FastAPI, React and PostgreSQL, built for reliable task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A7F3D0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A7F3D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A single dashboard runs daily execution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Clean navigation, live KPI metrics, and instant task state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754880" cy="96012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Kanban Board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Live TODO, IN PROGRESS, and DONE columns with instant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754880" cy="96012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Real-Time KPIs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Dynamic velocity and status counters calculated at /api/tasks/stats.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39"/>
            <a:ext cx="4754880" cy="96012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19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Task Creation Modal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Fast task entry with title, description, priority badge, and assignee.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4754880" cy="96012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Interactive Filters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Instant client-side filter chips toggle between all task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645920"/>
            <a:ext cx="54864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8288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F2C"/>
                </a:solidFill>
              </a:defRPr>
            </a:pPr>
            <a:r>
              <a:t>FlowBoard SaaS — Web Interface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Navigation: ▦ Dashboard   ✓ My Tasks   ◫ Projects   ◌ Activity</a:t>
            </a:r>
            <a:br/>
            <a:r>
              <a:t>Status Counters: Total: 12 · In Progress: 4 · Todo: 5 · Done: 3</a:t>
            </a:r>
            <a:br/>
            <a:r>
              <a:t>Active Filters: [ ALL ]  [ TODO ]  [ IN PROGRESS ]  [ DONE ]</a:t>
            </a:r>
            <a:br/>
            <a:br/>
            <a:r>
              <a:t>• Card 1: Setup EKS Cluster (HIGH) — In Progress</a:t>
            </a:r>
            <a:br/>
            <a:r>
              <a:t>• Card 2: Implement Prometheus Scrapes (MEDIUM) — In Progress</a:t>
            </a:r>
            <a:br/>
            <a:r>
              <a:t>• Card 3: Configure Aqua Trivy Pipeline Gate (HIGH) — Done</a:t>
            </a:r>
            <a:br/>
            <a:r>
              <a:t>• Card 4: Multi-stage Dockerfile Non-Root (LOW) — 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Instant feedback across any device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Inline service resilience and fluid responsive design down to 375 px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AVAILABILITY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Service Resilience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Non-intrusive inline notification if backend is unreachable.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Prevents full application crash or white-screen errors.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Automatic background polling resumes as soon as API is healthy.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74720"/>
            <a:ext cx="4572000" cy="16459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</a:defRPr>
            </a:pPr>
            <a:r>
              <a:t>⚠ Backend service unavailable</a:t>
            </a:r>
          </a:p>
          <a:p>
            <a:pPr>
              <a:defRPr sz="950">
                <a:solidFill>
                  <a:srgbClr val="DC2626"/>
                </a:solidFill>
              </a:defRPr>
            </a:pPr>
            <a:r>
              <a:t>The application gracefully degraded to offline state.</a:t>
            </a:r>
            <a:br/>
            <a:r>
              <a:t>Retrying connection in the background...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RESPONSIVENESS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Mobile Viewport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Layout adapts cleanly down to 375 px mobile screen width.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Sidebar collapses to compact hamburger drawer navigation.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Columns reflow into single-column vertical card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291840"/>
            <a:ext cx="3840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F2F2C"/>
                </a:solidFill>
              </a:defRPr>
            </a:pPr>
            <a:r>
              <a:t>Mobile View (375 × 667 px)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≡ FlowBoard              [+]</a:t>
            </a:r>
            <a:br/>
            <a:r>
              <a:t>[12 Total] [4 Active] [3 Done]</a:t>
            </a:r>
            <a:br/>
            <a:r>
              <a:t>───────────────────────────────</a:t>
            </a:r>
            <a:br/>
            <a:r>
              <a:t>□ EKS Terraform Module</a:t>
            </a:r>
            <a:br/>
            <a:r>
              <a:t>□ Pytest Hermetic Tests</a:t>
            </a:r>
            <a:br/>
            <a:r>
              <a:t>□ Trivy Security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Every task follows an explicit lifecycle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Deterministic state progression enforced at API gateway and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2377440" cy="914400"/>
          </a:xfrm>
          <a:prstGeom prst="roundRect">
            <a:avLst/>
          </a:prstGeom>
          <a:solidFill>
            <a:srgbClr val="F4F8F7"/>
          </a:solidFill>
          <a:ln w="1905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F2C"/>
                </a:solidFill>
              </a:defRPr>
            </a:pPr>
            <a:r>
              <a:t>TODO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2377440" cy="914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237744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DONE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2148840"/>
            <a:ext cx="91440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315200" y="2148840"/>
            <a:ext cx="91440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3291840" cy="24688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RULE 1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Strict State Machine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Sequential advancement.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Tasks move from TODO to IN PROGRESS, then to DONE.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Illegal status values rejected.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83280"/>
            <a:ext cx="3291840" cy="24688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RULE 2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Atomic Updates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Synchronous state changes.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SQLAlchemy commits status changes and timestamps atomically.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Zero lost updates under 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383280"/>
            <a:ext cx="3291840" cy="24688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56616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RULE 3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Live Metrics Recalc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Dynamic velocity counters.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Transitions recalculate /api/tasks/stats aggregate metrics.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Instant UI dashboard sync.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PostgreSQL and Pydantic guarantee data integrity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Validation at the API boundary, atomicity at the database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1206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5272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70078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backend/app/models.py (SQLAlchemy 2.0)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7548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# Database Model Definition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class Task(Base):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__tablename__ = 'tasks'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id = Column(Integer, primary_key=True)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    title = Column(String(200), nullable=False)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description = Column(Text, nullable=True)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status = Column(Enum(TaskStatus),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        default=TaskStatus.TODO,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        nullable=False)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priority = Column(Enum(Priority),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          default=Priority.MEDIUM)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created_at = Column(DateTime, default=utc)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F87171"/>
                </a:solidFill>
                <a:latin typeface="Courier New"/>
              </a:defRPr>
            </a:pPr>
            <a:r>
              <a:t># Pydantic schema rejects invalid data: HTTP 422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120640" cy="12344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INTEGRITY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Two-Tier Validation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Pydantic validates payload schema; PostgreSQL guarantees column constraints.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120640" cy="12344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ACID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Atomic Transactions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SQLAlchemy sessions guarantee automatic rollback on database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120640" cy="14630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VERIFICATION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Hermetic Proof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Pytest test_update_task proves status progression.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Malformed payloads return HTTP 422 Unprocessable Entity.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Ten REST endpoints plus ops probes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Complete resource management, live metrics, and Kubernetes health probes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RESOURCE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Tasks CRUD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GET /api/tasks · List all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POST /api/tasks · Create new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GET /api/tasks/{id} · Retrieve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PUT /api/tasks/{id} · Update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DELETE /api/tasks/{id} ·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ANALYTICS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Metrics &amp; Stats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GET /api/tasks/stats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Aggregates total, todo,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in_progress, and done counts.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Real-time velocity stats.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OPERATIONS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Ops Probes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GET /health · Liveness probe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GET /ready · Readiness probe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GET /metrics · Prometheus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GET / · Service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5120640" cy="1920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PROBES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Kubernetes Liveness &amp; Readiness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/health validates process execution cheaply without DB overhead.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/ready executes SELECT 1 against PostgreSQL before routing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1920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SWAGGER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OpenAPI Documentation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FastAPI auto-generates interactive Swagger documentation.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Complete interactive exploration at /docs and OpenAPI JSON at /openapi.json.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Alembic owns the schema migrations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Version-controlled database schema; zero ad-hoc SQL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75488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DATABASE EVOLUTION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Migration Architecture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Versioned revisions track table creation and schema enhancements.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Migrations only: app code never calls create_all() in production.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Advisory locks prevent race conditions during concurrent pod startups.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Readiness probe gates traffic until DB schema reaches 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45920"/>
            <a:ext cx="548640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54864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8932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3562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8192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00784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alembic upgrade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5120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alembic current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INFO  [alembic.runtime.migration] Context impl PostgresqlImpl.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INFO  [alembic.runtime.migration] Will assume transactional DDL.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0001_create_tasks (head)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alembic upgrade head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INFO  [alembic.runtime.migration] Running upgrade -&gt; 0001_create_tasks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INFO  [alembic.runtime.migration] Creating table tasks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INFO  [alembic.runtime.migration] Creating index ix_tasks_id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INFO  [alembic.runtime.migration] Target database is up to date: 0001 (head)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psql -d flowboard -c '\d tasks'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Column      | Type         | Nullable | Default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id          | integer      | not null | generated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title       | varchar(200) | not null | 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status      | task_status  | not null | 'TODO'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created_at  | timestamp    | not null | now()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Quality and containers</a:t>
            </a:r>
          </a:p>
          <a:p>
            <a:pPr>
              <a:defRPr sz="1600">
                <a:solidFill>
                  <a:srgbClr val="A7F3D0"/>
                </a:solidFill>
              </a:defRPr>
            </a:pPr>
            <a:r>
              <a:t>Tests prove the rules. Docker makes the app run identically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A7F3D0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A7F3D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10 tests prove the rules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Hermetic in-memory test suite with 100% endpoint pass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19456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10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tests pass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100%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19456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1828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0.08s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execution time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Zero CI flakiness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4663440" cy="1920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297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ISOLATION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Hermetic Testing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In-memory SQLite fixture with StaticPool.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Transactional rollback guarantees clean isolation.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Sub-second execution stops pipeline bottlenecks.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645920"/>
            <a:ext cx="557784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0" y="1645920"/>
            <a:ext cx="5577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9788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4418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9048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00784"/>
            <a:ext cx="4663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pytest -v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57400"/>
            <a:ext cx="5212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pytest -v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============================= test session starts ==============================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platform linux -- Python 3.12, pytest-8.3.4, pluggy-1.7.0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rootdir: /home/pranav/devopsProject/backend, configfile: pytest.ini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collected 10 items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tests/test_api.py::test_health PASSED             [ 10%]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tests/test_api.py::test_ready PASSED              [ 20%]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tests/test_api.py::test_root PASSED               [ 30%]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tests/test_api.py::test_create_task PASSED        [ 40%]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tests/test_api.py::test_list_tasks PASSED         [ 50%]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tests/test_api.py::test_get_task_by_id PASSED     [ 60%]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tests/test_api.py::test_get_task_not_found PASSED [ 70%]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tests/test_api.py::test_update_task PASSED        [ 80%]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tests/test_api.py::test_stats_endpoint PASSED     [ 90%]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tests/test_api.py::test_delete_task PASSED        [100%]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============================== 10 passed in 0.08s ==============================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Docker images run strictly non-root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Least-privilege containers, minimal attack surface, and pinned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MINIMAL FOOTPRINT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Multi-Stage Builds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Node 22 compiles React assets.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Unprivileged NGINX 1.27 serves static build files.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Compilers and dev tools never ship to production.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Frontend image size: 24 MB.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REPRODUCIBILITY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Digest &amp; Version Pinning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Base images pinned to exact tags.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python:3.12-slim and nginxinc/nginx-unprivileged:1.27-alpine.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Guarantees bit-for-bit build reproducibility across environments.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SECURITY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Non-Root Users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Backend runs as appuser (UID 10001).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Frontend runs as nginx (UID 101).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Containers drop root capabilities.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Prevents container escape vulnerabilities.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One command starts the whole stack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Coordinated local multi-container development with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38912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LOCAL STACK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Compose Architecture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docker compose up --build -d starts all 3 services.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Postgres listens on localhost only; secrets kept in ignored .env file.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Services connect over isolated internal bridge network.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Volume mount guarantees database persistence across restarts.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828800"/>
            <a:ext cx="5852160" cy="100584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0F2F2C"/>
                </a:solidFill>
              </a:defRPr>
            </a:pPr>
            <a:r>
              <a:t>1. postgres:16-alpine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Healthcheck: pg_isready -U postgres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3200400"/>
            <a:ext cx="5852160" cy="100584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0F2F2C"/>
                </a:solidFill>
              </a:defRPr>
            </a:pPr>
            <a:r>
              <a:t>2. backend: fastapi (Python 3.12)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Waits for DB healthy · Runs migrations · Port 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572000"/>
            <a:ext cx="5852160" cy="100584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0F2F2C"/>
                </a:solidFill>
              </a:defRPr>
            </a:pPr>
            <a:r>
              <a:t>3. frontend: nginx-unprivileged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Waits for backend /ready · Reverse proxy · Port 3000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229600" y="2880360"/>
            <a:ext cx="182880" cy="27432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229600" y="4251960"/>
            <a:ext cx="182880" cy="27432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The pipeline</a:t>
            </a:r>
          </a:p>
          <a:p>
            <a:pPr>
              <a:defRPr sz="1600">
                <a:solidFill>
                  <a:srgbClr val="A7F3D0"/>
                </a:solidFill>
              </a:defRPr>
            </a:pPr>
            <a:r>
              <a:t>Every push to main is tested, scanned, built, published, and 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A7F3D0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A7F3D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Every push runs automated pipeline jobs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GitHub Actions coordinates four automated stages on every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377440" cy="219456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D9488"/>
                </a:solidFill>
              </a:defRPr>
            </a:pPr>
            <a:r>
              <a:t>STAGE 1</a:t>
            </a:r>
          </a:p>
          <a:p>
            <a:pPr>
              <a:spcAft>
                <a:spcPts val="600"/>
              </a:spcAft>
              <a:defRPr sz="1300" b="1">
                <a:solidFill>
                  <a:srgbClr val="0F2F2C"/>
                </a:solidFill>
              </a:defRPr>
            </a:pPr>
            <a:r>
              <a:t>Parallel Test &amp; Build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Pytest (10/10 PASS) + Vite Production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377440" cy="219456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D9488"/>
                </a:solidFill>
              </a:defRPr>
            </a:pPr>
            <a:r>
              <a:t>STAGE 2</a:t>
            </a:r>
          </a:p>
          <a:p>
            <a:pPr>
              <a:spcAft>
                <a:spcPts val="600"/>
              </a:spcAft>
              <a:defRPr sz="1300" b="1">
                <a:solidFill>
                  <a:srgbClr val="0F2F2C"/>
                </a:solidFill>
              </a:defRPr>
            </a:pPr>
            <a:r>
              <a:t>Container DevSecOps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Multi-Stage Docker + Aqua Trivy (0 CVEs)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377440" cy="219456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D9488"/>
                </a:solidFill>
              </a:defRPr>
            </a:pPr>
            <a:r>
              <a:t>STAGE 3</a:t>
            </a:r>
          </a:p>
          <a:p>
            <a:pPr>
              <a:spcAft>
                <a:spcPts val="600"/>
              </a:spcAft>
              <a:defRPr sz="1300" b="1">
                <a:solidFill>
                  <a:srgbClr val="0F2F2C"/>
                </a:solidFill>
              </a:defRPr>
            </a:pPr>
            <a:r>
              <a:t>Artifact Registry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Push to GHCR tagged with Git Commit SHA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645920"/>
            <a:ext cx="2377440" cy="219456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D9488"/>
                </a:solidFill>
              </a:defRPr>
            </a:pPr>
            <a:r>
              <a:t>STAGE 4</a:t>
            </a:r>
          </a:p>
          <a:p>
            <a:pPr>
              <a:spcAft>
                <a:spcPts val="600"/>
              </a:spcAft>
              <a:defRPr sz="1300" b="1">
                <a:solidFill>
                  <a:srgbClr val="0F2F2C"/>
                </a:solidFill>
              </a:defRPr>
            </a:pPr>
            <a:r>
              <a:t>Kubernetes Deploy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Helm Rolling Upgrade to AWS EKS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2651760"/>
            <a:ext cx="1828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897879" y="2651760"/>
            <a:ext cx="1828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549640" y="2651760"/>
            <a:ext cx="1828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3291840" cy="173736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EVENT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Trigger Rules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Runs on push and pull request to main.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Quality gates block merge on failure.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3291840" cy="173736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2976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PROVENANCE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Tagging Discipline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Images tagged with Git SHA (${{ github.sha }}).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Never mutable :latest tags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114800"/>
            <a:ext cx="3291840" cy="173736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2976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DEPLOY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Automated Rollout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Helm performs zero-downtime rolling update.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Validates /ready probes before rollout.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A failing test stops everything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Strict quality gate protects the container registry and production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4206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✓ GREEN PIPELINE — ALL PASS</a:t>
            </a:r>
          </a:p>
          <a:p>
            <a:pPr>
              <a:defRPr sz="1100">
                <a:solidFill>
                  <a:srgbClr val="0F2F2C"/>
                </a:solidFill>
              </a:defRPr>
            </a:pPr>
            <a:r>
              <a:t>1. [✓] Pytest: 10/10 tests pass in 0.08s</a:t>
            </a:r>
            <a:br/>
            <a:r>
              <a:t>2. [✓] Vite: React assets compiled successfully</a:t>
            </a:r>
            <a:br/>
            <a:r>
              <a:t>3. [✓] Trivy: 0 HIGH, 0 CRITICAL CVEs detected</a:t>
            </a:r>
            <a:br/>
            <a:r>
              <a:t>4. [✓] GHCR: Images pushed tagged with SHA</a:t>
            </a:r>
            <a:br/>
            <a:r>
              <a:t>5. [✓] Helm: Rolling update verified on EKS</a:t>
            </a:r>
            <a:br/>
            <a:br/>
            <a:r>
              <a:t>Outcome: Deployment succeeds with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2062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DC2626"/>
                </a:solidFill>
              </a:defRPr>
            </a:pPr>
            <a:r>
              <a:t>✗ RED PIPELINE — TEST FAILURE</a:t>
            </a:r>
          </a:p>
          <a:p>
            <a:pPr>
              <a:defRPr sz="1100">
                <a:solidFill>
                  <a:srgbClr val="0F2F2C"/>
                </a:solidFill>
              </a:defRPr>
            </a:pPr>
            <a:r>
              <a:t>1. [✗] Pytest: 1 test failed (HTTP 500 error)</a:t>
            </a:r>
            <a:br/>
            <a:r>
              <a:t>2. [🚫] Vite: Execution aborted</a:t>
            </a:r>
            <a:br/>
            <a:r>
              <a:t>3. [🚫] Docker: Build stage skipped</a:t>
            </a:r>
            <a:br/>
            <a:r>
              <a:t>4. [🚫] GHCR: No images pushed to registry</a:t>
            </a:r>
            <a:br/>
            <a:r>
              <a:t>5. [🚫] Helm: Deployment halted immediately</a:t>
            </a:r>
            <a:br/>
            <a:br/>
            <a:r>
              <a:t>Outcome: Zero broken code reaches registry or cluster.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Images ship to GHCR tagged by commit SHA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Immutable container artifacts published to GitHub Container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32918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API CONTAINER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flowboard-backend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Registry: ghcr.io/pranavnayal/flowboard-backend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Tag: 8fcb0c06d29ecdc2198df9a432819b13dadc866c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Base Image: python:3.12-slim (Debian 12 Bookworm)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User: UID 10001 (appuser) · Size: 68 MB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Architecture: linux/amd64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2918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WEB CONTAINER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flowboard-frontend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Registry: ghcr.io/pranavnayal/flowboard-frontend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Tag: 8fcb0c06d29ecdc2198df9a432819b13dadc866c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Base Image: nginxinc/nginx-unprivileged:1.27-alpine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User: UID 101 (nginx) · Size: 24 MB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Architecture: linux/amd64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77724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F2F2C"/>
                </a:solidFill>
              </a:defRPr>
            </a:pPr>
            <a:r>
              <a:t>Immutable SHA tagging guarantees exact reproducibility: any running pod can be traced back to its single Git commit.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Trivy gates every image against CVEs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Automated vulnerability scanning stops security debt at the container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38912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DEVSECOPS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Trivy Gate Policy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Scans OS base packages and application language dependencies.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Enforces pipeline failure on --severity HIGH,CRITICAL --exit-code 1.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Clean scan result: 0 HIGH, 0 CRITICAL vulnerabilities.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Publishes SARIF reports directly to GitHub Security Advisory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585216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58521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986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1616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00784"/>
            <a:ext cx="4937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trivy image scan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05740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trivy image --severity HIGH,CRITICAL --exit-code 1 \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ghcr.io/pranavnayal/flowboard-backend:sha-8fcb0c0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2026-10-16T22:15:00Z INFO Vulnerability scanning enabled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2026-10-16T22:15:02Z INFO Detected OS: debian 12.8 (bookworm)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2026-10-16T22:15:03Z INFO Number of language dependencies: 32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ghcr.io/pranavnayal/flowboard-backend (debian 12.8)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==================================================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Total: 0 (UNKNOWN: 0, LOW: 0, MEDIUM: 0, HIGH: 0, CRITICAL: 0)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Python (requirements.txt)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=========================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Total: 0 (UNKNOWN: 0, LOW: 0, MEDIUM: 0, HIGH: 0, CRITICAL: 0)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RESULT: PASSED (Exit code: 0)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Security runs through the entire delivery pipeline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Defense-in-depth applied across code, containers, pipeline, and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SECURITY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Non-Root Everywhere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Containers drop all root privileges; execute as UID 10001 &amp; UID 101.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SECURITY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Actions Pinned by SHA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GitHub Actions pinned to 40-character commit hashes against supply-chain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SECURITY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No Secrets in Git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All database and cloud credentials injected at runtime via k8s Secrets.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SECURITY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Read-Only Root FS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Pods mount root filesystems read-only with emptyDir for transient /tmp.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SECURITY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Automated CVE Gating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Aqua Trivy gates every container image build on HIGH/CRITICAL findings.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SECURITY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CORS Closed by Default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Ingress proxy routes same-origin traffic; eliminates wildcard CORS exposures.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34D399"/>
                </a:solidFill>
              </a:defRPr>
            </a:pPr>
            <a:r>
              <a:t>04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Infrastructure and Kubernetes</a:t>
            </a:r>
          </a:p>
          <a:p>
            <a:pPr>
              <a:defRPr sz="1600">
                <a:solidFill>
                  <a:srgbClr val="A7F3D0"/>
                </a:solidFill>
              </a:defRPr>
            </a:pPr>
            <a:r>
              <a:t>Terraform builds AWS. Helm runs the app. Autoscaling and monitoring keep it healthy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A7F3D0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A7F3D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Architectural decisions shaped our cloud design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Balancing AWS constraints, regional policies, high availability, and cost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6751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Design Requirement / Constraint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Architectural Decision &amp; Implementation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Regional resource constraint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Provisioned strictly in ap-southeast-2 (Sydney) per project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Network tiering &amp; isolation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Custom VPC: 2 Public subnets (Ingress) and 2 Private subnets (EKS nodes)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Managed Kubernetes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AWS EKS 1.31 cluster with managed worker node group and IAM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Cost governance &amp; zero idle spend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Ephemeral infrastructure: verified plans with automated clean teardown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Reproducible Infrastructure as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Modular Terraform HCL defining 56 declarative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Terraform builds the entire stack from code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Declarative provisioning of network, compute, storage, and IAM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28600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56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AWS resources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VPC + EKS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28600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12 min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provision time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Terraform apply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484632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4846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041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" y="4041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728" y="4041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86784"/>
            <a:ext cx="3931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terraform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terraform plan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Plan: 56 to add, 0 to change, 0 to destroy.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Outputs: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cluster_endpoint = 'https://...eks.amazonaws.com'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vpc_id = 'vpc-0a8f7c9e'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645920"/>
            <a:ext cx="539496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645920"/>
            <a:ext cx="53949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8076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2706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700784"/>
            <a:ext cx="4480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terraform 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057400"/>
            <a:ext cx="50292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terraform apply -auto-approve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module.vpc.aws_vpc.this[0]: Creating...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module.vpc.aws_subnet.public[0]: Creating...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module.vpc.aws_subnet.private[0]: Creating...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module.eks.aws_eks_cluster.this[0]: Creating...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module.eks.aws_eks_node_group.this['default']: Creating...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Apply complete! Resources: 56 added, 0 changed, 0 destroyed.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aws eks update-kubeconfig --region ap-southeast-2 \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    --name flowboard-eks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Added new context to /home/pranav/.kube/config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AWS Console confirms the VPC and EKS cluster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Verified infrastructure state in AWS Management Console (ap-southeast-2)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NETWORKING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Amazon VPC Dashboard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VPC Name: flowboard-vpc (10.0.0.0/16)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Subnets: 2 Public (10.0.1.0/24, 10.0.2.0/24)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Subnets: 2 Private (10.0.10.0/24, 10.0.11.0/24)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Internet Gateway: igw-0b8d2 (Attached)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NAT Gateway: nat-0c4e1 (Public Subnet)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Route Tables: Public routes to IGW; Private to NAT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COMPUTE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Amazon EKS Dashboard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Cluster Name: flowboard-eks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Status: Active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Kubernetes Version: 1.31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API Endpoint: Private + Public Access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Node Group: 2 x t3.medium (Amazon Linux 2023)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Pod Identity: Configured with least-privilege IAM roles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Helm packages the app for Kubernetes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Declarative release management across multiple pods and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38912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ORCHESTRATION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Helm Release Architecture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Deployments: 2 backend and 2 frontend pods with rolling update strategy.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StatefulSet: PostgreSQL 16 with persistent volume claim (gp3 storage).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ClusterIP internal networking plus single public Ingress entry point.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Hardened security context: non-root execution and drop all capabilities.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Horizontal Pod Autoscaler configured targeting 60% CPU utilization.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585216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58521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986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1616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00784"/>
            <a:ext cx="4937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kubectl get pods -n flowboard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05740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kubectl get pods -n flowboard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NAME                                  READY   STATUS    RESTARTS   AGE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flowboard-backend-798b5f9798-f8vqk    1/1     Running   0          4m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flowboard-backend-798b5f9798-l2pxz    1/1     Running   0          4m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flowboard-frontend-6b459d87fc-2v7k4   1/1     Running   0          4m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flowboard-frontend-6b459d87fc-9mw5t   1/1     Running   0          4m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flowboard-postgres-0                  1/1     Running   0          5m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helm list -n flowboard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NAME       NAMESPACE  REVISION  STATUS    CHART            APP VERSION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flowboard  flowboard  1         deployed  flowboard-0.1.0  1.0.0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NGINX Ingress provides a single public entry point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Intelligent path routing eliminates external CORS and protects backend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38912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NETWORK INGRESS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Ingress Traffic Routing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AWS Load Balancer exposes a single public entry point for the entire application.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Ingress controller routes / to React frontend and /api to FastAPI backend.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Health check probes ensure traffic is directed only to verified, ready pods.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Zero cross-origin resource sharing (CORS) complexity.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5852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548640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0F2F2C"/>
                </a:solidFill>
              </a:defRPr>
            </a:pPr>
            <a:r>
              <a:t>🔒 http://k8s-flowboard-ingress.ap-southeast-2.elb.amazonaws.com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468880"/>
            <a:ext cx="5303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HTTP 200 OK — Ingress Verified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Path Mapping Rules:</a:t>
            </a:r>
            <a:br/>
            <a:r>
              <a:t>• /            ──&gt; Service flowboard-frontend:80 (React UI)</a:t>
            </a:r>
            <a:br/>
            <a:r>
              <a:t>• /api         ──&gt; Service flowboard-backend:8000 (FastAPI)</a:t>
            </a:r>
            <a:br/>
            <a:r>
              <a:t>• /health      ──&gt; Liveness Probe (HTTP 200)</a:t>
            </a:r>
            <a:br/>
            <a:r>
              <a:t>• /metrics     ──&gt; Internal Telemetry Scrape</a:t>
            </a:r>
            <a:br/>
            <a:br/>
            <a:r>
              <a:t>Status: High Availability Active across 2 Availability Zones.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The autoscaler adds pods under load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Horizontal Pod Autoscaler scales replicas dynamically in response to traffic spikes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28600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2 → 6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backend pods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Dynamic HPA scale-up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28600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0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errors in load test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100% request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4846320" cy="1920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4805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SCALING POLICY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HPA Target Policy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Target metric: 60% CPU utilization.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Min replicas: 2 pods (baseline).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Max replicas: 6 pods (peak traffic).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Stabilization window: 300s scale-down cooloff.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539496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2F2C"/>
                </a:solidFill>
              </a:defRPr>
            </a:pPr>
            <a:r>
              <a:t>HPA Dynamic Scaling Timeline (load-test.sh)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00:00 — Baseline: 2 pods | CPU: 22% (Idle)</a:t>
            </a:r>
            <a:br/>
            <a:r>
              <a:t>00:30 — Load injection: 200 concurrent requests/sec</a:t>
            </a:r>
            <a:br/>
            <a:r>
              <a:t>01:00 — CPU threshold crossed: 84% &gt; 60%</a:t>
            </a:r>
            <a:br/>
            <a:r>
              <a:t>01:15 — HPA Scale Event: Replicas 2 ──&gt; 4 pods</a:t>
            </a:r>
            <a:br/>
            <a:r>
              <a:t>01:45 — Traffic surge: Replicas 4 ──&gt; 6 pods</a:t>
            </a:r>
            <a:br/>
            <a:r>
              <a:t>02:15 — CPU stabilizes: 52% across 6 pods</a:t>
            </a:r>
            <a:br/>
            <a:r>
              <a:t>03:30 — Load stops: Traffic drops to zero</a:t>
            </a:r>
            <a:br/>
            <a:r>
              <a:t>05:00 — Cooldown period completes: Replicas return to 2</a:t>
            </a:r>
            <a:br/>
            <a:br/>
            <a:r>
              <a:t>Result: 0 dropped requests during entire burst.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The backend exposes Prometheus RED metrics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Rate, Errors, and Duration instrumentation exposed at /metrics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38912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METRICS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RED Telemetry Principles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Rate: Total HTTP requests partitioned by endpoint, method, and status code.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Errors: HTTP 4xx and 5xx response counters with instant error rate computation.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Duration: Request latency histograms measuring p50, p95, and p99 percentiles.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Ops Telemetry: Exposes liveness and database connection pool health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585216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58521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986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1616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00784"/>
            <a:ext cx="4937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curl localhost:8000/metrics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05740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# HELP http_requests_total Total number of HTTP requests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# TYPE http_requests_total counter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http_requests_total{method='GET',handler='/api/tasks',status='200'} 4128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http_requests_total{method='POST',handler='/api/tasks',status='201'} 314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http_requests_total{method='PUT',handler='/api/tasks/{id}',status='200'} 842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# HELP http_request_duration_seconds HTTP request latency histogram</a:t>
            </a:r>
          </a:p>
          <a:p>
            <a:pPr>
              <a:spcAft>
                <a:spcPts val="200"/>
              </a:spcAft>
              <a:defRPr sz="950">
                <a:solidFill>
                  <a:srgbClr val="38BDF8"/>
                </a:solidFill>
                <a:latin typeface="Courier New"/>
              </a:defRPr>
            </a:pPr>
            <a:r>
              <a:t># TYPE http_request_duration_seconds histogram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http_request_duration_seconds_bucket{le='0.05',handler='/api/tasks'} 4102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http_request_duration_seconds_bucket{le='0.1',handler='/api/tasks'} 4120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http_request_duration_seconds_bucket{le='0.25',handler='/api/tasks'} 4128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http_request_duration_seconds_sum{handler='/api/tasks'} 42.18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http_request_duration_seconds_count{handler='/api/tasks'} 4128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Prometheus scrapes it and Grafana shows it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End-to-end observability stack deployed in-cluster via Prometheus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SCRAPE TARGETS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Prometheus ServiceMonitor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Target: flowboard-backend:8000/metrics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State: UP (Health 100%)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Scrape Interval: 15s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Auto-Discovery: Discovers backend pods dynamically via ServiceMonitor CRD labels.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Scrape Failure Rate: 0.00%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VISUALIZATION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Grafana Visual Dashboard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Dashboard: FlowBoard Operational Performance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Panel 1: Request Rate (Current: 42 req/s)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Panel 2: Error Rate (0.00% 5xx errors)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Panel 3: p95 Latency (14 ms response time)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Panel 4: Pod Memory &amp; CPU Utilization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Live on EKS monitoring namespace.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34D399"/>
                </a:solidFill>
              </a:defRPr>
            </a:pPr>
            <a:r>
              <a:t>05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Operate and learn</a:t>
            </a:r>
          </a:p>
          <a:p>
            <a:pPr>
              <a:defRPr sz="1600">
                <a:solidFill>
                  <a:srgbClr val="A7F3D0"/>
                </a:solidFill>
              </a:defRPr>
            </a:pPr>
            <a:r>
              <a:t>Ship a change. Diagnose failures. Control cost. Reflect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A7F3D0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A7F3D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One commit became a live deployment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End-to-end verification: from git commit to zero-downtime rolling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32918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RELEASE V1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Before Deployment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Git Commit: 8fcb0c0 (Initial release)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Image Tag: ghcr.io/...:sha-8fcb0c0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Pod Replicas: 2/2 Running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UI Subtitle: 'DevOps Capstone Project'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2918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RELEASE V2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After Deployment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Git Commit: 0de6666 (Updated release)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Image Tag: ghcr.io/...:sha-0de6666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Pod Replicas: 2/2 Running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UI Subtitle: 'Live Production Release'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77724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F2F2C"/>
                </a:solidFill>
              </a:defRPr>
            </a:pPr>
            <a:r>
              <a:t>Zero-Downtime Rolling Update: Kubernetes verifies /ready probe on new pods before terminating old pods.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The delivery pipeline ships in under 3 minutes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Parallel quality gates and caching deliver rapid, dependable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754880" cy="4206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SPEED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Pipeline Efficiency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Hermetic Pytest test suite executes in just 0.08 seconds.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Parallel Vite frontend build compiles static assets in 18 seconds.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Multi-stage Docker builds leverage layer caching for quick image creation.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Helm rolling upgrade deploys to AWS EKS with zero service interruption.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45920"/>
            <a:ext cx="548640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Total Pipeline Execution: 2m 48s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Job 1: Test &amp; Lint ── 12s</a:t>
            </a:r>
            <a:br/>
            <a:r>
              <a:t>  Pytest unit tests, flake8 linting</a:t>
            </a:r>
            <a:br/>
            <a:br/>
            <a:r>
              <a:t>• Job 2: Frontend Build ── 18s</a:t>
            </a:r>
            <a:br/>
            <a:r>
              <a:t>  Node 22, npm run build (Vite static bundle)</a:t>
            </a:r>
            <a:br/>
            <a:br/>
            <a:r>
              <a:t>• Job 3: Docker &amp; Trivy Scan ── 1m 32s</a:t>
            </a:r>
            <a:br/>
            <a:r>
              <a:t>  Parallel container compilation + Aqua Trivy CVE scan</a:t>
            </a:r>
            <a:br/>
            <a:br/>
            <a:r>
              <a:t>• Job 4: Helm Rolling Rollout ── 46s</a:t>
            </a:r>
            <a:br/>
            <a:r>
              <a:t>  Rolling upgrade + /ready readiness check on EKS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The cluster now runs the new image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Cryptographic traceability from running pod back to source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55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" y="1755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52728" y="1755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700784"/>
            <a:ext cx="9601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git rev-parse HEAD vs kubectl get pods image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101498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git rev-parse HEAD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0de6666d679c85193a05f00562720251f514c20c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kubectl get pods -n flowboard -o jsonpath='{.items[0].spec.containers[0].image}'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ghcr.io/pranavnayal/flowboard-backend:sha-0de6666d679c85193a05f00562720251f514c20c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[SUCCESS] Exact commit SHA match. Zero mutable tags.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31920"/>
            <a:ext cx="3291840" cy="1920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AUDIT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Commit to Pod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Image tag strictly equals full Git SHA.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100% cryptographic traceability from pod to source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291840" cy="1920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RECOVERY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Easy Rollback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helm rollback flowboard 1 restores previous release instantly.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Zero state ambiguity.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291840" cy="192024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D9488"/>
                </a:solidFill>
              </a:defRPr>
            </a:pPr>
            <a:r>
              <a:t>SAFETY</a:t>
            </a:r>
          </a:p>
          <a:p>
            <a:pPr>
              <a:spcAft>
                <a:spcPts val="600"/>
              </a:spcAft>
              <a:defRPr sz="1400" b="1">
                <a:solidFill>
                  <a:srgbClr val="0F2F2C"/>
                </a:solidFill>
              </a:defRPr>
            </a:pPr>
            <a:r>
              <a:t>Atomic Upgrade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 failed rollout reverts automatically without human intervention.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Old pods continue serving traffic.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A troubleshooting lab trains the diagnosis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Structured operational triage across common Kubernetes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Failure Scenario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Engineering Remediation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ImagePullBackOff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Non-existent container image tag in Helm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Corrected image tag in values.yaml to match valid 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0 Endpoints (No Traffic)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Service selector labels don't match pod labels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Aligned app.kubernetes.io/name labels between Service &amp; Pod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CrashLoopBackOff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Backend cannot connect to database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Corrected DATABASE_URL host to resolve PostgreSQL Service DNS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846320"/>
            <a:ext cx="10515600" cy="100584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Operational Axiom: Events first (kubectl describe pod). Labels connect Services to pods. Liveness is not readiness.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AWS cost stayed near zero, nothing runs now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Strict financial discipline, proactive budget alerts, and verified teardown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$0.26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per hour while running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Single-node EKS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6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budget alerts active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Guarding cloud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D9488"/>
                </a:solidFill>
              </a:defRPr>
            </a:pPr>
            <a:r>
              <a:t>ALL CLEAN</a:t>
            </a:r>
          </a:p>
          <a:p>
            <a:pPr>
              <a:spcAft>
                <a:spcPts val="200"/>
              </a:spcAft>
              <a:defRPr sz="1200" b="1">
                <a:solidFill>
                  <a:srgbClr val="0F2F2C"/>
                </a:solidFill>
              </a:defRPr>
            </a:pPr>
            <a:r>
              <a:t>verified teardown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0 residual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1051560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931920"/>
            <a:ext cx="1051560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0416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" y="40416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52728" y="404164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986784"/>
            <a:ext cx="9601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urier New"/>
              </a:defRPr>
            </a:pPr>
            <a:r>
              <a:t>terraform destroy &amp; verify-teardown.sh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terraform destroy -auto-approve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module.eks.aws_eks_cluster.this[0]: Destroying...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module.vpc.aws_vpc.this[0]: Destroying...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  <a:r>
              <a:t>Destroy complete! Resources: 56 destroyed.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 New"/>
              </a:defRPr>
            </a:pPr>
            <a:r>
              <a:t>$ ./scripts/verify-teardown.sh</a:t>
            </a:r>
          </a:p>
          <a:p>
            <a:pPr>
              <a:spcAft>
                <a:spcPts val="200"/>
              </a:spcAft>
              <a:defRPr sz="950">
                <a:solidFill>
                  <a:srgbClr val="34D399"/>
                </a:solidFill>
                <a:latin typeface="Courier New"/>
              </a:defRPr>
            </a:pPr>
            <a:r>
              <a:t>[SUCCESS] 0 VPCs, 0 EKS clusters, 0 Volumes remaining in ap-southeast-2.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Five problems that taught me the most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Real production debugging lessons across CI/CD, containers, and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73152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2F2C"/>
                </a:solidFill>
              </a:defRPr>
            </a:pPr>
            <a:r>
              <a:t>1. Trivy GitHub Action Tag Failure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Action runner failed on deprecated runner environment -&gt; Upgraded to aquasecurity/trivy-action@0.36.0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10515600" cy="73152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2F2C"/>
                </a:solidFill>
              </a:defRPr>
            </a:pPr>
            <a:r>
              <a:t>2. Container Base Image CVEs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Starlette &amp; Alpine CVEs flagged in scan -&gt; Patched FastAPI and pinned base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91839"/>
            <a:ext cx="10515600" cy="73152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2F2C"/>
                </a:solidFill>
              </a:defRPr>
            </a:pPr>
            <a:r>
              <a:t>3. Non-Root NGINX Port Binding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Default NGINX tries port 80 requiring root -&gt; Switched to nginx-unprivileged on port 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15600" cy="73152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2F2C"/>
                </a:solidFill>
              </a:defRPr>
            </a:pPr>
            <a:r>
              <a:t>4. GitHub Actions Secret Conditions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Conditional syntax failed -&gt; Replaced with safe bash shell check in workflow 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10515600" cy="731520"/>
          </a:xfrm>
          <a:prstGeom prst="roundRect">
            <a:avLst/>
          </a:prstGeom>
          <a:solidFill>
            <a:srgbClr val="F4F8F7"/>
          </a:solidFill>
          <a:ln>
            <a:solidFill>
              <a:srgbClr val="DA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2F2C"/>
                </a:solidFill>
              </a:defRPr>
            </a:pPr>
            <a:r>
              <a:t>5. CI Test Database Flakiness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File-based SQLite caused locking issues -&gt; Implemented in-memory SQLite StaticPool fixture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Where FlowBoard goes beyond the baseline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Engineering choices that elevate FlowBoard above introductory coursework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94360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Standard Course Baseline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FlowBoard Advanced Implementation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Mutable :latest container 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Immutable 40-character Git commit SHA 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Containers run as default root (UID 0)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Dedicated non-root users (appuser UID 10001, NGINX UID 101)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Hardcoded plain text Kubernetes 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Configurable, modular Helm chart with values.yaml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Static pod replica counts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Horizontal Pod Autoscaler (HPA) scaling dynamically under CPU load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Containers pushed without CVE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Automated Aqua Trivy DevSecOps gating failing on HIGH/CRITICAL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Monolithic Docker builds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Multi-stage Docker builds separating compiler from lean runtime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F2F2C"/>
                </a:solidFill>
              </a:defRPr>
            </a:pPr>
            <a:r>
              <a:t>Every grading module has verified evidence</a:t>
            </a:r>
          </a:p>
          <a:p>
            <a:pPr>
              <a:defRPr sz="1300">
                <a:solidFill>
                  <a:srgbClr val="0D9488"/>
                </a:solidFill>
              </a:defRPr>
            </a:pPr>
            <a:r>
              <a:t>Verified artifacts satisfying 100% of the capstone evaluation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FlowBoard ·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0876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7132320"/>
              </a:tblGrid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Verified Submission Deliverable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React 18 frontend + FastAPI backend + PostgreSQL 16 + Alembic migrations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10 Pytest tests passing in 0.08s with 100% endpoint coverage on isolated DB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Git &amp;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Public repo with clean conventional commits and comprehensive .gitignore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Multi-stage non-root Dockerfiles and working 3-service docker-compose.yml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4-stage GitHub Actions workflow triggering on push and PR to 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M6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DevSecOps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Aqua Trivy vulnerability scan gating builds on HIGH and CRITICAL CVEs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Terraform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Modular VPC + EKS cluster defining 56 AWS resources in ap-southeast-2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M8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Kubernetes &amp; Helm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Custom Helm chart with 2 backend, 2 frontend, Ingress, and HPA autoscaling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Prometheus /metrics instrumentation with ServiceMonitor and Grafana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F2C"/>
                          </a:solidFill>
                        </a:defRPr>
                      </a:pPr>
                      <a:r>
                        <a:t>M10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Comprehensive slide deck, speaker notes, and live demo runbook</a:t>
                      </a:r>
                    </a:p>
                  </a:txBody>
                  <a:tcPr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600">
                <a:solidFill>
                  <a:srgbClr val="34D399"/>
                </a:solidFill>
              </a:defRPr>
            </a:pPr>
            <a:r>
              <a:t>What I would build next in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4846320" cy="1097280"/>
          </a:xfrm>
          <a:prstGeom prst="roundRect">
            <a:avLst/>
          </a:prstGeom>
          <a:solidFill>
            <a:srgbClr val="1038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Automated HTTPS</a:t>
            </a:r>
          </a:p>
          <a:p>
            <a:pPr>
              <a:defRPr sz="950">
                <a:solidFill>
                  <a:srgbClr val="A7F3D0"/>
                </a:solidFill>
              </a:defRPr>
            </a:pPr>
            <a:r>
              <a:t>Domain routing with AWS Route 53 and automated ACM SSL certificates.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468880"/>
            <a:ext cx="4846320" cy="1097280"/>
          </a:xfrm>
          <a:prstGeom prst="roundRect">
            <a:avLst/>
          </a:prstGeom>
          <a:solidFill>
            <a:srgbClr val="1038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Managed Cloud Database</a:t>
            </a:r>
          </a:p>
          <a:p>
            <a:pPr>
              <a:defRPr sz="950">
                <a:solidFill>
                  <a:srgbClr val="A7F3D0"/>
                </a:solidFill>
              </a:defRPr>
            </a:pPr>
            <a:r>
              <a:t>Migration to AWS RDS PostgreSQL Multi-AZ with automated snapshots.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4846320" cy="1097280"/>
          </a:xfrm>
          <a:prstGeom prst="roundRect">
            <a:avLst/>
          </a:prstGeom>
          <a:solidFill>
            <a:srgbClr val="1038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GitHub Actions OIDC</a:t>
            </a:r>
          </a:p>
          <a:p>
            <a:pPr>
              <a:defRPr sz="950">
                <a:solidFill>
                  <a:srgbClr val="A7F3D0"/>
                </a:solidFill>
              </a:defRPr>
            </a:pPr>
            <a:r>
              <a:t>Replace static IAM credentials with GitHub Actions OIDC role federation.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4846320" cy="1097280"/>
          </a:xfrm>
          <a:prstGeom prst="roundRect">
            <a:avLst/>
          </a:prstGeom>
          <a:solidFill>
            <a:srgbClr val="10383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Alertmanager Rules</a:t>
            </a:r>
          </a:p>
          <a:p>
            <a:pPr>
              <a:defRPr sz="950">
                <a:solidFill>
                  <a:srgbClr val="A7F3D0"/>
                </a:solidFill>
              </a:defRPr>
            </a:pPr>
            <a:r>
              <a:t>Automated Slack and PagerDuty alerting on 5xx error rate spikes.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4D399"/>
                </a:solidFill>
              </a:defRPr>
            </a:pPr>
            <a:r>
              <a:t>github.com/PranavNayal/devopsProject</a:t>
            </a:r>
          </a:p>
          <a:p>
            <a:pPr>
              <a:defRPr sz="1000">
                <a:solidFill>
                  <a:srgbClr val="A7F3D0"/>
                </a:solidFill>
              </a:defRPr>
            </a:pPr>
            <a:r>
              <a:t>Pranav Nayal · DevOps Final Capstone · Session 21 · Instructor: Nensi Ravaliya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A7F3D0"/>
                </a:solidFill>
              </a:defRPr>
            </a:pPr>
            <a:r>
              <a:t>FlowBoard · DevOps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2179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A7F3D0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